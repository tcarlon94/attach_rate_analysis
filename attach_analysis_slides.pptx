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embeddedFontLst>
    <p:embeddedFont>
      <p:font typeface="Montserrat SemiBold"/>
      <p:regular r:id="rId10"/>
      <p:bold r:id="rId11"/>
      <p:italic r:id="rId12"/>
      <p:boldItalic r:id="rId13"/>
    </p:embeddedFont>
    <p:embeddedFont>
      <p:font typeface="Montserrat"/>
      <p:regular r:id="rId14"/>
      <p:bold r:id="rId15"/>
      <p:italic r:id="rId16"/>
      <p:boldItalic r:id="rId17"/>
    </p:embeddedFont>
    <p:embeddedFont>
      <p:font typeface="Montserrat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italic.fntdata"/><Relationship Id="rId11" Type="http://schemas.openxmlformats.org/officeDocument/2006/relationships/font" Target="fonts/MontserratSemiBold-bold.fntdata"/><Relationship Id="rId10" Type="http://schemas.openxmlformats.org/officeDocument/2006/relationships/font" Target="fonts/MontserratSemiBold-regular.fntdata"/><Relationship Id="rId21" Type="http://schemas.openxmlformats.org/officeDocument/2006/relationships/font" Target="fonts/MontserratMedium-boldItalic.fntdata"/><Relationship Id="rId13" Type="http://schemas.openxmlformats.org/officeDocument/2006/relationships/font" Target="fonts/MontserratSemiBold-boldItalic.fntdata"/><Relationship Id="rId12" Type="http://schemas.openxmlformats.org/officeDocument/2006/relationships/font" Target="fonts/MontserratSemiBold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" Target="slides/slide1.xml"/><Relationship Id="rId19" Type="http://schemas.openxmlformats.org/officeDocument/2006/relationships/font" Target="fonts/MontserratMedium-bold.fntdata"/><Relationship Id="rId6" Type="http://schemas.openxmlformats.org/officeDocument/2006/relationships/slide" Target="slides/slide2.xml"/><Relationship Id="rId18" Type="http://schemas.openxmlformats.org/officeDocument/2006/relationships/font" Target="fonts/Montserrat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7070817dc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7070817dc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f7070817dc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9924" y="914250"/>
            <a:ext cx="5572150" cy="12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/>
        </p:nvSpPr>
        <p:spPr>
          <a:xfrm>
            <a:off x="2204400" y="2639850"/>
            <a:ext cx="7783200" cy="15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Business Development Market Recommendation</a:t>
            </a:r>
            <a:endParaRPr b="1" sz="4000">
              <a:solidFill>
                <a:srgbClr val="F4F4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3837225" y="4204600"/>
            <a:ext cx="37011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Tim Carlon</a:t>
            </a:r>
            <a:endParaRPr b="1" sz="2400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C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92600" y="1069850"/>
            <a:ext cx="47964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2500"/>
              <a:buFont typeface="Arial"/>
              <a:buNone/>
            </a:pPr>
            <a:r>
              <a:rPr b="1" lang="en-US" sz="3000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Business Development </a:t>
            </a:r>
            <a:r>
              <a:rPr b="1" i="0" lang="en-US" sz="30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Recommendation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92608" y="2142162"/>
            <a:ext cx="4389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1600"/>
              <a:buFont typeface="Arial"/>
              <a:buNone/>
            </a:pPr>
            <a:r>
              <a:rPr b="1" i="0" lang="en-US" sz="2000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Sports &amp; Fitness Equipment</a:t>
            </a:r>
            <a:endParaRPr b="1" i="0" sz="200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92600" y="2666522"/>
            <a:ext cx="4160400" cy="23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-323850" lvl="0" marL="457200" marR="0" rtl="0" algn="l"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●"/>
            </a:pP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Highest Unit &amp; Dollar Attach Rate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●"/>
            </a:pP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3x higher Net Revenue than any other industry.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●"/>
            </a:pP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Strongest combination of attach performance, </a:t>
            </a: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revenue, and market opportunity.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479635" y="1069860"/>
            <a:ext cx="1874400" cy="960000"/>
          </a:xfrm>
          <a:prstGeom prst="roundRect">
            <a:avLst>
              <a:gd fmla="val 7619" name="adj"/>
            </a:avLst>
          </a:prstGeom>
          <a:solidFill>
            <a:srgbClr val="111518"/>
          </a:solidFill>
          <a:ln cap="flat" cmpd="sng" w="10150">
            <a:solidFill>
              <a:srgbClr val="2A31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5616800" y="1243600"/>
            <a:ext cx="1600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2100"/>
              <a:buFont typeface="Arial"/>
              <a:buNone/>
            </a:pPr>
            <a:r>
              <a:rPr i="0" lang="en-US" sz="2400" u="none" cap="none" strike="noStrike">
                <a:solidFill>
                  <a:srgbClr val="00B9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9.57%</a:t>
            </a:r>
            <a:endParaRPr i="0" sz="2400" u="none" cap="none" strike="noStrike">
              <a:solidFill>
                <a:srgbClr val="00B9F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589375" y="1600193"/>
            <a:ext cx="16551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720"/>
              <a:buFont typeface="Arial"/>
              <a:buNone/>
            </a:pPr>
            <a:r>
              <a:rPr i="0" lang="en-US" sz="1020" u="none" cap="none" strike="noStrike">
                <a:solidFill>
                  <a:srgbClr val="F4F4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Unit Attach Rate</a:t>
            </a:r>
            <a:endParaRPr i="0" sz="102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7463883" y="1069860"/>
            <a:ext cx="1874400" cy="960000"/>
          </a:xfrm>
          <a:prstGeom prst="roundRect">
            <a:avLst>
              <a:gd fmla="val 7619" name="adj"/>
            </a:avLst>
          </a:prstGeom>
          <a:solidFill>
            <a:srgbClr val="111518"/>
          </a:solidFill>
          <a:ln cap="flat" cmpd="sng" w="10150">
            <a:solidFill>
              <a:srgbClr val="2A31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601043" y="1243596"/>
            <a:ext cx="1600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2100"/>
              <a:buFont typeface="Arial"/>
              <a:buNone/>
            </a:pPr>
            <a:r>
              <a:rPr i="0" lang="en-US" sz="2400" u="none" cap="none" strike="noStrike">
                <a:solidFill>
                  <a:srgbClr val="00B9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1.52%</a:t>
            </a:r>
            <a:endParaRPr i="0" sz="2400" u="none" cap="none" strike="noStrike">
              <a:solidFill>
                <a:srgbClr val="00B9F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573536" y="1645512"/>
            <a:ext cx="1655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720"/>
              <a:buFont typeface="Arial"/>
              <a:buNone/>
            </a:pPr>
            <a:r>
              <a:rPr i="0" lang="en-US" sz="1020" u="none" cap="none" strike="noStrike">
                <a:solidFill>
                  <a:srgbClr val="F4F4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Dollar Attach Rate</a:t>
            </a:r>
            <a:endParaRPr i="0" sz="102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448131" y="1069860"/>
            <a:ext cx="1874400" cy="960000"/>
          </a:xfrm>
          <a:prstGeom prst="roundRect">
            <a:avLst>
              <a:gd fmla="val 7619" name="adj"/>
            </a:avLst>
          </a:prstGeom>
          <a:solidFill>
            <a:srgbClr val="111518"/>
          </a:solidFill>
          <a:ln cap="flat" cmpd="sng" w="10150">
            <a:solidFill>
              <a:srgbClr val="2A31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9585291" y="1243596"/>
            <a:ext cx="1600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2100"/>
              <a:buFont typeface="Arial"/>
              <a:buNone/>
            </a:pPr>
            <a:r>
              <a:rPr i="0" lang="en-US" sz="2400" u="none" cap="none" strike="noStrike">
                <a:solidFill>
                  <a:srgbClr val="00B9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$65.1K</a:t>
            </a:r>
            <a:endParaRPr i="0" sz="2400" u="none" cap="none" strike="noStrike">
              <a:solidFill>
                <a:srgbClr val="00B9F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557684" y="1645512"/>
            <a:ext cx="1655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720"/>
              <a:buFont typeface="Arial"/>
              <a:buNone/>
            </a:pPr>
            <a:r>
              <a:rPr i="0" lang="en-US" sz="1020" u="none" cap="none" strike="noStrike">
                <a:solidFill>
                  <a:srgbClr val="F4F4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Extend Net Revenue</a:t>
            </a:r>
            <a:endParaRPr i="0" sz="102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6" name="Google Shape;3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90" y="329175"/>
            <a:ext cx="1885490" cy="4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3625" y="2142150"/>
            <a:ext cx="3843524" cy="408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C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292600" y="941825"/>
            <a:ext cx="7022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2500"/>
              <a:buFont typeface="Arial"/>
              <a:buNone/>
            </a:pPr>
            <a:r>
              <a:rPr b="1" i="0" lang="en-US" sz="30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Large Addressable Market</a:t>
            </a: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292608" y="1627632"/>
            <a:ext cx="4160520" cy="3977640"/>
          </a:xfrm>
          <a:prstGeom prst="roundRect">
            <a:avLst>
              <a:gd fmla="val 1839" name="adj"/>
            </a:avLst>
          </a:prstGeom>
          <a:solidFill>
            <a:srgbClr val="111518"/>
          </a:solidFill>
          <a:ln cap="flat" cmpd="sng" w="10150">
            <a:solidFill>
              <a:srgbClr val="2A31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640080" y="193852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3400"/>
              <a:buFont typeface="Arial"/>
              <a:buNone/>
            </a:pPr>
            <a:r>
              <a:rPr b="1" i="0" lang="en-US" sz="3300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~$58B</a:t>
            </a:r>
            <a:endParaRPr i="0" sz="330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40080" y="2487168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U.S. Sporting Goods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Retail Market (2023)*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40080" y="315468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B8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AEB4B8"/>
                </a:solidFill>
                <a:latin typeface="Montserrat"/>
                <a:ea typeface="Montserrat"/>
                <a:cs typeface="Montserrat"/>
                <a:sym typeface="Montserrat"/>
              </a:rPr>
              <a:t>U.S. Census Bureau – NAICS 451110</a:t>
            </a:r>
            <a:endParaRPr i="0" sz="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B8"/>
              </a:buClr>
              <a:buSzPts val="850"/>
              <a:buFont typeface="Arial"/>
              <a:buNone/>
            </a:pPr>
            <a:r>
              <a:rPr i="0" lang="en-US" sz="850" u="none" cap="none" strike="noStrike">
                <a:solidFill>
                  <a:srgbClr val="AEB4B8"/>
                </a:solidFill>
                <a:latin typeface="Montserrat"/>
                <a:ea typeface="Montserrat"/>
                <a:cs typeface="Montserrat"/>
                <a:sym typeface="Montserrat"/>
              </a:rPr>
              <a:t>(Sporting goods stores)</a:t>
            </a:r>
            <a:endParaRPr i="0" sz="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40073" y="3858778"/>
            <a:ext cx="1986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Why it matters</a:t>
            </a:r>
            <a:endParaRPr i="0" sz="150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40075" y="4160526"/>
            <a:ext cx="322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050"/>
              <a:buFont typeface="Arial"/>
              <a:buNone/>
            </a:pPr>
            <a:r>
              <a:rPr i="0" lang="en-US" sz="15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Sports &amp; Fitness Equipment combines the</a:t>
            </a: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15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highest attach performance with a large</a:t>
            </a: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15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underlying market, creating meaningful</a:t>
            </a: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15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room to expand.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292608" y="61722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4B8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EB4B8"/>
                </a:solidFill>
                <a:latin typeface="Arial"/>
                <a:ea typeface="Arial"/>
                <a:cs typeface="Arial"/>
                <a:sym typeface="Arial"/>
              </a:rPr>
              <a:t>*Directional market size proxy. External definitions may not perfectly align with Extend’s merchant categories.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90" y="329175"/>
            <a:ext cx="1885490" cy="4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5528" y="1597025"/>
            <a:ext cx="7434071" cy="4314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C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292608" y="201168"/>
            <a:ext cx="173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38912" y="201168"/>
            <a:ext cx="155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292599" y="932751"/>
            <a:ext cx="6766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2500"/>
              <a:buFont typeface="Arial"/>
              <a:buNone/>
            </a:pPr>
            <a:r>
              <a:rPr b="1" i="0" lang="en-US" sz="30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Why Sports &amp; Fitness Equipment</a:t>
            </a:r>
            <a:endParaRPr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292600" y="1600200"/>
            <a:ext cx="3383400" cy="3320100"/>
          </a:xfrm>
          <a:prstGeom prst="roundRect">
            <a:avLst>
              <a:gd fmla="val 2162" name="adj"/>
            </a:avLst>
          </a:prstGeom>
          <a:solidFill>
            <a:srgbClr val="111518"/>
          </a:solidFill>
          <a:ln cap="flat" cmpd="sng" w="10150">
            <a:solidFill>
              <a:srgbClr val="2A31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521202" y="1824225"/>
            <a:ext cx="2770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Proven Warranty Adoption</a:t>
            </a:r>
            <a:endParaRPr i="0" sz="170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069075" y="1600200"/>
            <a:ext cx="3383400" cy="3320100"/>
          </a:xfrm>
          <a:prstGeom prst="roundRect">
            <a:avLst>
              <a:gd fmla="val 2162" name="adj"/>
            </a:avLst>
          </a:prstGeom>
          <a:solidFill>
            <a:srgbClr val="111518"/>
          </a:solidFill>
          <a:ln cap="flat" cmpd="sng" w="10150">
            <a:solidFill>
              <a:srgbClr val="2A31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4297672" y="1828800"/>
            <a:ext cx="2770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Proven</a:t>
            </a:r>
            <a:r>
              <a:rPr lang="en-US" sz="1700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1700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Economics</a:t>
            </a:r>
            <a:endParaRPr i="0" sz="170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7845550" y="1600200"/>
            <a:ext cx="3383400" cy="3320100"/>
          </a:xfrm>
          <a:prstGeom prst="roundRect">
            <a:avLst>
              <a:gd fmla="val 2162" name="adj"/>
            </a:avLst>
          </a:prstGeom>
          <a:solidFill>
            <a:srgbClr val="111518"/>
          </a:solidFill>
          <a:ln cap="flat" cmpd="sng" w="10150">
            <a:solidFill>
              <a:srgbClr val="2A31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8074150" y="1824175"/>
            <a:ext cx="286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Large Expansion</a:t>
            </a:r>
            <a:r>
              <a:rPr lang="en-US" sz="1700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1700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Opportunity</a:t>
            </a:r>
            <a:endParaRPr i="0" sz="170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292600" y="5184325"/>
            <a:ext cx="10936200" cy="1183800"/>
          </a:xfrm>
          <a:prstGeom prst="roundRect">
            <a:avLst>
              <a:gd fmla="val 5159" name="adj"/>
            </a:avLst>
          </a:prstGeom>
          <a:solidFill>
            <a:srgbClr val="111518"/>
          </a:solidFill>
          <a:ln cap="flat" cmpd="sng" w="10150">
            <a:solidFill>
              <a:srgbClr val="2A31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435900" y="5262450"/>
            <a:ext cx="350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B9F2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endParaRPr b="0" i="0" sz="1700" u="none" cap="none" strike="noStrike">
              <a:solidFill>
                <a:srgbClr val="00B9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786600" y="5262450"/>
            <a:ext cx="9581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1100"/>
              <a:buFont typeface="Arial"/>
              <a:buNone/>
            </a:pPr>
            <a:r>
              <a:rPr b="1" i="0" lang="en-US" sz="1700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Recommendation: Prioritize Sports &amp; Fitness Equipment in business development.</a:t>
            </a:r>
            <a:endParaRPr i="0" sz="170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786600" y="5752407"/>
            <a:ext cx="10022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850"/>
              <a:buFont typeface="Arial"/>
              <a:buNone/>
            </a:pPr>
            <a:r>
              <a:rPr i="0" lang="en-US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Target additional sporting goods, fitness equipment, and adjacent merchants where Extend can replicate the strong warranty attachment demonstrated in its existing portfolio.</a:t>
            </a:r>
            <a:endParaRPr i="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" name="Google Shape;7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90" y="329175"/>
            <a:ext cx="1885490" cy="4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 txBox="1"/>
          <p:nvPr/>
        </p:nvSpPr>
        <p:spPr>
          <a:xfrm>
            <a:off x="375075" y="2504338"/>
            <a:ext cx="2862000" cy="22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F4F4F2"/>
              </a:buClr>
              <a:buSzPts val="1400"/>
              <a:buFont typeface="Montserrat"/>
              <a:buChar char="●"/>
            </a:pPr>
            <a:r>
              <a:rPr lang="en-US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Highest unit attach rate (9.57%)</a:t>
            </a:r>
            <a:endParaRPr>
              <a:solidFill>
                <a:srgbClr val="F4F4F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F4F4F2"/>
              </a:buClr>
              <a:buSzPts val="1400"/>
              <a:buFont typeface="Montserrat"/>
              <a:buChar char="●"/>
            </a:pPr>
            <a:r>
              <a:rPr lang="en-US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Highest dollar attach rate (1.52%)</a:t>
            </a:r>
            <a:endParaRPr>
              <a:solidFill>
                <a:srgbClr val="F4F4F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1500"/>
              </a:spcAft>
              <a:buClr>
                <a:srgbClr val="F4F4F2"/>
              </a:buClr>
              <a:buSzPts val="1400"/>
              <a:buFont typeface="Montserrat"/>
              <a:buChar char="●"/>
            </a:pPr>
            <a:r>
              <a:rPr lang="en-US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Strong performance with multiple merchants</a:t>
            </a:r>
            <a:endParaRPr>
              <a:solidFill>
                <a:srgbClr val="F4F4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4251925" y="2478000"/>
            <a:ext cx="28620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F4F4F2"/>
              </a:buClr>
              <a:buSzPts val="1400"/>
              <a:buFont typeface="Montserrat"/>
              <a:buChar char="●"/>
            </a:pPr>
            <a:r>
              <a:rPr lang="en-US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$91.4K in warranty sales</a:t>
            </a:r>
            <a:endParaRPr>
              <a:solidFill>
                <a:srgbClr val="F4F4F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F4F4F2"/>
              </a:buClr>
              <a:buSzPts val="1400"/>
              <a:buFont typeface="Montserrat"/>
              <a:buChar char="●"/>
            </a:pPr>
            <a:r>
              <a:rPr lang="en-US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49.6% of total net revenue</a:t>
            </a:r>
            <a:endParaRPr>
              <a:solidFill>
                <a:srgbClr val="F4F4F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1500"/>
              </a:spcAft>
              <a:buClr>
                <a:srgbClr val="F4F4F2"/>
              </a:buClr>
              <a:buSzPts val="1400"/>
              <a:buFont typeface="Montserrat"/>
              <a:buChar char="●"/>
            </a:pPr>
            <a:r>
              <a:rPr lang="en-US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More than 3x the net revenue generated by any other industry</a:t>
            </a:r>
            <a:endParaRPr>
              <a:solidFill>
                <a:srgbClr val="F4F4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8137075" y="2571750"/>
            <a:ext cx="2770500" cy="20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~$58B US sporting goods retail market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Evidence consumers in market are receptive to protecting products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150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Acquiring additional merchants provide path to scale business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A0C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438912" y="201168"/>
            <a:ext cx="155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292608" y="909818"/>
            <a:ext cx="576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2500"/>
              <a:buFont typeface="Arial"/>
              <a:buNone/>
            </a:pPr>
            <a:r>
              <a:rPr b="1" i="0" lang="en-US" sz="30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292600" y="1508749"/>
            <a:ext cx="5440800" cy="4927500"/>
          </a:xfrm>
          <a:prstGeom prst="roundRect">
            <a:avLst>
              <a:gd fmla="val 1616" name="adj"/>
            </a:avLst>
          </a:prstGeom>
          <a:solidFill>
            <a:srgbClr val="111518"/>
          </a:solidFill>
          <a:ln cap="flat" cmpd="sng" w="10150">
            <a:solidFill>
              <a:srgbClr val="2A31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457200" y="1700784"/>
            <a:ext cx="292608" cy="292608"/>
          </a:xfrm>
          <a:prstGeom prst="ellipse">
            <a:avLst/>
          </a:prstGeom>
          <a:solidFill>
            <a:srgbClr val="00B9F2"/>
          </a:solidFill>
          <a:ln cap="flat" cmpd="sng" w="12700">
            <a:solidFill>
              <a:srgbClr val="00B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B9F2"/>
              </a:solidFill>
              <a:highlight>
                <a:srgbClr val="00B9F2"/>
              </a:highlight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457250" y="1719198"/>
            <a:ext cx="292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0A0C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070A0C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859536" y="1627632"/>
            <a:ext cx="4526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What is driving the overall</a:t>
            </a: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15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decline in attach rate?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859523" y="2176330"/>
            <a:ext cx="1739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800"/>
              <a:buFont typeface="Arial"/>
              <a:buNone/>
            </a:pPr>
            <a:r>
              <a:rPr b="1" i="0" lang="en-US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Why it matters</a:t>
            </a:r>
            <a:endParaRPr i="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859536" y="2542032"/>
            <a:ext cx="4480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830"/>
              <a:buFont typeface="Arial"/>
              <a:buNone/>
            </a:pPr>
            <a:r>
              <a:rPr i="0" lang="en-US" sz="123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Unit attach declined 9.09% → 6.34% and dollar attach declined 1.34% → 0.84% from Mar to May. Reversing this decline represents a meaningful revenue opportunity.</a:t>
            </a:r>
            <a:endParaRPr i="0" sz="12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859508" y="3200400"/>
            <a:ext cx="3862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800"/>
              <a:buFont typeface="Arial"/>
              <a:buNone/>
            </a:pPr>
            <a:r>
              <a:rPr b="1" i="0" lang="en-US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Why I’m asking</a:t>
            </a:r>
            <a:endParaRPr i="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859536" y="3527425"/>
            <a:ext cx="4480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830"/>
              <a:buFont typeface="Arial"/>
              <a:buNone/>
            </a:pPr>
            <a:r>
              <a:rPr i="0" lang="en-US" sz="123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The decline appears across both unit and dollar attachment, suggesting a broader change in warranty performance.</a:t>
            </a:r>
            <a:endParaRPr i="0" sz="12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859507" y="4174237"/>
            <a:ext cx="399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800"/>
              <a:buFont typeface="Arial"/>
              <a:buNone/>
            </a:pPr>
            <a:r>
              <a:rPr b="1" i="0" lang="en-US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Additional data needed</a:t>
            </a:r>
            <a:endParaRPr i="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859536" y="4448617"/>
            <a:ext cx="4480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830"/>
              <a:buFont typeface="Arial"/>
              <a:buNone/>
            </a:pPr>
            <a:r>
              <a:rPr i="0" lang="en-US" sz="123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Offer impressions, product category/attributes, warranty-to-product price ratio, checkout placement, device/channel, merchant onboarding/cohort.</a:t>
            </a:r>
            <a:endParaRPr i="0" sz="12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859536" y="5136685"/>
            <a:ext cx="1508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800"/>
              <a:buFont typeface="Arial"/>
              <a:buNone/>
            </a:pPr>
            <a:r>
              <a:rPr b="1" i="0" lang="en-US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Approach</a:t>
            </a:r>
            <a:endParaRPr i="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859525" y="5369826"/>
            <a:ext cx="44805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830"/>
              <a:buFont typeface="Arial"/>
              <a:buNone/>
            </a:pPr>
            <a:r>
              <a:rPr i="0" lang="en-US" sz="123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Decompose the decline into mix vs. within-merchant deterioration. Segment across key drivers, quantify with analysis, and validate with A/B tests.</a:t>
            </a:r>
            <a:endParaRPr i="0" sz="12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897875" y="1508749"/>
            <a:ext cx="5440800" cy="4927500"/>
          </a:xfrm>
          <a:prstGeom prst="roundRect">
            <a:avLst>
              <a:gd fmla="val 1616" name="adj"/>
            </a:avLst>
          </a:prstGeom>
          <a:solidFill>
            <a:srgbClr val="111518"/>
          </a:solidFill>
          <a:ln cap="flat" cmpd="sng" w="10150">
            <a:solidFill>
              <a:srgbClr val="2A31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6062472" y="1700784"/>
            <a:ext cx="292608" cy="292608"/>
          </a:xfrm>
          <a:prstGeom prst="ellipse">
            <a:avLst/>
          </a:prstGeom>
          <a:solidFill>
            <a:srgbClr val="00B9F2"/>
          </a:solidFill>
          <a:ln cap="flat" cmpd="sng" w="12700">
            <a:solidFill>
              <a:srgbClr val="00B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6062525" y="1755588"/>
            <a:ext cx="29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0A0C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070A0C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464808" y="1627632"/>
            <a:ext cx="4526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Why do merchants in the same</a:t>
            </a: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150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industry have different attach rates?</a:t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464808" y="2542032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830"/>
              <a:buFont typeface="Arial"/>
              <a:buNone/>
            </a:pPr>
            <a:r>
              <a:rPr i="0" lang="en-US" sz="123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Large variation exists within industries. Identifying drivers can improve performance at lower-performing merchants.</a:t>
            </a:r>
            <a:endParaRPr i="0" sz="12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464808" y="3410712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830"/>
              <a:buFont typeface="Arial"/>
              <a:buNone/>
            </a:pPr>
            <a:r>
              <a:rPr i="0" lang="en-US" sz="123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Consumer Electronics: 3.7%–15.1% unit attach; Sports &amp; Fitness: 6.5%–17.7%.</a:t>
            </a:r>
            <a:endParaRPr i="0" sz="12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487671" y="4347980"/>
            <a:ext cx="4480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830"/>
              <a:buFont typeface="Arial"/>
              <a:buNone/>
            </a:pPr>
            <a:r>
              <a:rPr i="0" lang="en-US" sz="123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Product category, product price, warranty</a:t>
            </a:r>
            <a:r>
              <a:rPr lang="en-US" sz="1230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123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to</a:t>
            </a:r>
            <a:r>
              <a:rPr lang="en-US" sz="1230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123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product price ratio, offer placement/impressions, device/channel, customer/traffic mix.</a:t>
            </a:r>
            <a:endParaRPr i="0" sz="12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464846" y="5285272"/>
            <a:ext cx="4480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2"/>
              </a:buClr>
              <a:buSzPts val="830"/>
              <a:buFont typeface="Arial"/>
              <a:buNone/>
            </a:pPr>
            <a:r>
              <a:rPr i="0" lang="en-US" sz="1230" u="none" cap="none" strike="noStrike">
                <a:solidFill>
                  <a:srgbClr val="F4F4F2"/>
                </a:solidFill>
                <a:latin typeface="Montserrat"/>
                <a:ea typeface="Montserrat"/>
                <a:cs typeface="Montserrat"/>
                <a:sym typeface="Montserrat"/>
              </a:rPr>
              <a:t>Use segmentation and regression to identify the strongest drivers, then run targeted A/B tests to replicate winning strategies.</a:t>
            </a:r>
            <a:endParaRPr i="0" sz="12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90" y="329175"/>
            <a:ext cx="1885490" cy="4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/>
          <p:nvPr/>
        </p:nvSpPr>
        <p:spPr>
          <a:xfrm>
            <a:off x="6464798" y="2176330"/>
            <a:ext cx="1739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800"/>
              <a:buFont typeface="Arial"/>
              <a:buNone/>
            </a:pPr>
            <a:r>
              <a:rPr b="1" i="0" lang="en-US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Why it matters</a:t>
            </a:r>
            <a:endParaRPr i="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464808" y="3177438"/>
            <a:ext cx="3862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800"/>
              <a:buFont typeface="Arial"/>
              <a:buNone/>
            </a:pPr>
            <a:r>
              <a:rPr b="1" i="0" lang="en-US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Why I’m asking</a:t>
            </a:r>
            <a:endParaRPr i="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464807" y="4005024"/>
            <a:ext cx="399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800"/>
              <a:buFont typeface="Arial"/>
              <a:buNone/>
            </a:pPr>
            <a:r>
              <a:rPr b="1" i="0" lang="en-US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Additional data needed</a:t>
            </a:r>
            <a:endParaRPr i="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464811" y="4985673"/>
            <a:ext cx="1508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C8F5"/>
              </a:buClr>
              <a:buSzPts val="800"/>
              <a:buFont typeface="Arial"/>
              <a:buNone/>
            </a:pPr>
            <a:r>
              <a:rPr b="1" i="0" lang="en-US" u="none" cap="none" strike="noStrike">
                <a:solidFill>
                  <a:srgbClr val="00B9F2"/>
                </a:solidFill>
                <a:latin typeface="Montserrat"/>
                <a:ea typeface="Montserrat"/>
                <a:cs typeface="Montserrat"/>
                <a:sym typeface="Montserrat"/>
              </a:rPr>
              <a:t>Approach</a:t>
            </a:r>
            <a:endParaRPr i="0" u="none" cap="none" strike="noStrike">
              <a:solidFill>
                <a:srgbClr val="00B9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